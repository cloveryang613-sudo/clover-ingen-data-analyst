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5" r:id="rId9"/>
    <p:sldId id="267" r:id="rId10"/>
    <p:sldId id="269" r:id="rId11"/>
  </p:sldIdLst>
  <p:sldSz cx="18288000" cy="10287000"/>
  <p:notesSz cx="6858000" cy="9144000"/>
  <p:embeddedFontLst>
    <p:embeddedFont>
      <p:font typeface="Abadi" panose="020B0604020104020204" pitchFamily="34" charset="77"/>
      <p:regular r:id="rId12"/>
      <p:bold r:id="rId13"/>
    </p:embeddedFont>
    <p:embeddedFont>
      <p:font typeface="Aharoni" panose="02010803020104030203" pitchFamily="2" charset="-79"/>
      <p:bold r:id="rId14"/>
    </p:embeddedFont>
    <p:embeddedFont>
      <p:font typeface="Anton" pitchFamily="2" charset="77"/>
      <p:regular r:id="rId15"/>
    </p:embeddedFont>
    <p:embeddedFont>
      <p:font typeface="Public Sans" pitchFamily="2" charset="77"/>
      <p:regular r:id="rId16"/>
    </p:embeddedFont>
    <p:embeddedFont>
      <p:font typeface="Public Sans Heavy" pitchFamily="2" charset="77"/>
      <p:regular r:id="rId17"/>
    </p:embeddedFont>
    <p:embeddedFont>
      <p:font typeface="Public Sans Medium" pitchFamily="2" charset="7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26" autoAdjust="0"/>
  </p:normalViewPr>
  <p:slideViewPr>
    <p:cSldViewPr>
      <p:cViewPr varScale="1">
        <p:scale>
          <a:sx n="69" d="100"/>
          <a:sy n="69" d="100"/>
        </p:scale>
        <p:origin x="256" y="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7014" y="1396148"/>
            <a:ext cx="17453972" cy="8002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81"/>
              </a:lnSpc>
            </a:pPr>
            <a:r>
              <a:rPr lang="en-US" sz="18000" spc="-631" dirty="0">
                <a:solidFill>
                  <a:srgbClr val="3D4630"/>
                </a:solidFill>
                <a:latin typeface="Anton"/>
                <a:ea typeface="Anton"/>
                <a:cs typeface="Anton"/>
                <a:sym typeface="Anton"/>
              </a:rPr>
              <a:t>From Physical AI Data to Operational Insights</a:t>
            </a:r>
          </a:p>
        </p:txBody>
      </p:sp>
      <p:grpSp>
        <p:nvGrpSpPr>
          <p:cNvPr id="3" name="Group 3"/>
          <p:cNvGrpSpPr/>
          <p:nvPr/>
        </p:nvGrpSpPr>
        <p:grpSpPr>
          <a:xfrm rot="-132270">
            <a:off x="5443724" y="4880058"/>
            <a:ext cx="7099229" cy="1034373"/>
            <a:chOff x="0" y="0"/>
            <a:chExt cx="1869756" cy="2724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69756" cy="272428"/>
            </a:xfrm>
            <a:custGeom>
              <a:avLst/>
              <a:gdLst/>
              <a:ahLst/>
              <a:cxnLst/>
              <a:rect l="l" t="t" r="r" b="b"/>
              <a:pathLst>
                <a:path w="1869756" h="272428">
                  <a:moveTo>
                    <a:pt x="0" y="0"/>
                  </a:moveTo>
                  <a:lnTo>
                    <a:pt x="1869756" y="0"/>
                  </a:lnTo>
                  <a:lnTo>
                    <a:pt x="1869756" y="272428"/>
                  </a:lnTo>
                  <a:lnTo>
                    <a:pt x="0" y="272428"/>
                  </a:lnTo>
                  <a:close/>
                </a:path>
              </a:pathLst>
            </a:custGeom>
            <a:solidFill>
              <a:srgbClr val="D1E1C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69756" cy="310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1049772">
            <a:off x="16575276" y="2442061"/>
            <a:ext cx="768219" cy="639717"/>
          </a:xfrm>
          <a:custGeom>
            <a:avLst/>
            <a:gdLst/>
            <a:ahLst/>
            <a:cxnLst/>
            <a:rect l="l" t="t" r="r" b="b"/>
            <a:pathLst>
              <a:path w="768219" h="639717">
                <a:moveTo>
                  <a:pt x="0" y="0"/>
                </a:moveTo>
                <a:lnTo>
                  <a:pt x="768219" y="0"/>
                </a:lnTo>
                <a:lnTo>
                  <a:pt x="768219" y="639717"/>
                </a:lnTo>
                <a:lnTo>
                  <a:pt x="0" y="639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8" name="Freeform 8"/>
          <p:cNvSpPr/>
          <p:nvPr/>
        </p:nvSpPr>
        <p:spPr>
          <a:xfrm rot="432189" flipH="1">
            <a:off x="1818316" y="7407000"/>
            <a:ext cx="757562" cy="630843"/>
          </a:xfrm>
          <a:custGeom>
            <a:avLst/>
            <a:gdLst/>
            <a:ahLst/>
            <a:cxnLst/>
            <a:rect l="l" t="t" r="r" b="b"/>
            <a:pathLst>
              <a:path w="757562" h="630843">
                <a:moveTo>
                  <a:pt x="757562" y="0"/>
                </a:moveTo>
                <a:lnTo>
                  <a:pt x="0" y="0"/>
                </a:lnTo>
                <a:lnTo>
                  <a:pt x="0" y="630843"/>
                </a:lnTo>
                <a:lnTo>
                  <a:pt x="757562" y="630843"/>
                </a:lnTo>
                <a:lnTo>
                  <a:pt x="7575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9" name="TextBox 9"/>
          <p:cNvSpPr txBox="1"/>
          <p:nvPr/>
        </p:nvSpPr>
        <p:spPr>
          <a:xfrm rot="-132270">
            <a:off x="5621654" y="5117742"/>
            <a:ext cx="6740805" cy="492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spc="-152" dirty="0">
                <a:solidFill>
                  <a:srgbClr val="3D463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Presentation By Clover Yang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F23E7E-E1B7-3224-C283-174634CD03BB}"/>
              </a:ext>
            </a:extLst>
          </p:cNvPr>
          <p:cNvSpPr txBox="1"/>
          <p:nvPr/>
        </p:nvSpPr>
        <p:spPr>
          <a:xfrm>
            <a:off x="14557001" y="8953500"/>
            <a:ext cx="2864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4000" dirty="0">
                <a:latin typeface="Aharoni" panose="02010803020104030203" pitchFamily="2" charset="-79"/>
                <a:cs typeface="Aharoni" panose="02010803020104030203" pitchFamily="2" charset="-79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-949911">
            <a:off x="7399958" y="1830671"/>
            <a:ext cx="659680" cy="549334"/>
          </a:xfrm>
          <a:custGeom>
            <a:avLst/>
            <a:gdLst/>
            <a:ahLst/>
            <a:cxnLst/>
            <a:rect l="l" t="t" r="r" b="b"/>
            <a:pathLst>
              <a:path w="659680" h="549334">
                <a:moveTo>
                  <a:pt x="0" y="0"/>
                </a:moveTo>
                <a:lnTo>
                  <a:pt x="659680" y="0"/>
                </a:lnTo>
                <a:lnTo>
                  <a:pt x="659680" y="549334"/>
                </a:lnTo>
                <a:lnTo>
                  <a:pt x="0" y="549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6" name="Freeform 6"/>
          <p:cNvSpPr/>
          <p:nvPr/>
        </p:nvSpPr>
        <p:spPr>
          <a:xfrm rot="1458517">
            <a:off x="7363783" y="7151847"/>
            <a:ext cx="721072" cy="600456"/>
          </a:xfrm>
          <a:custGeom>
            <a:avLst/>
            <a:gdLst/>
            <a:ahLst/>
            <a:cxnLst/>
            <a:rect l="l" t="t" r="r" b="b"/>
            <a:pathLst>
              <a:path w="721072" h="600456">
                <a:moveTo>
                  <a:pt x="0" y="0"/>
                </a:moveTo>
                <a:lnTo>
                  <a:pt x="721072" y="0"/>
                </a:lnTo>
                <a:lnTo>
                  <a:pt x="721072" y="600456"/>
                </a:lnTo>
                <a:lnTo>
                  <a:pt x="0" y="6004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7" name="TextBox 7"/>
          <p:cNvSpPr txBox="1"/>
          <p:nvPr/>
        </p:nvSpPr>
        <p:spPr>
          <a:xfrm>
            <a:off x="2458441" y="3758505"/>
            <a:ext cx="7784443" cy="6401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Raw Data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   ↓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Data Quality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   ↓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EDA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   ↓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Feature Engineering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   ↓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ML Analysis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   ↓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KPI Pipeline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   ↓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Dashboard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86800" y="2373511"/>
            <a:ext cx="7784443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b="1" dirty="0"/>
              <a:t>Project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 err="1"/>
              <a:t>Aido</a:t>
            </a:r>
            <a:r>
              <a:rPr lang="en-US" sz="3600" dirty="0"/>
              <a:t> Rover telemetry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 err="1"/>
              <a:t>Fari</a:t>
            </a:r>
            <a:r>
              <a:rPr lang="en-US" sz="3600" dirty="0"/>
              <a:t> interaction quality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Multi-platform KPI framework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Executive dashboard prototype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1499" y="259972"/>
            <a:ext cx="7025834" cy="368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80"/>
              </a:lnSpc>
            </a:pPr>
            <a:r>
              <a:rPr lang="en-US" sz="10000" spc="-434" dirty="0">
                <a:solidFill>
                  <a:srgbClr val="3D4630"/>
                </a:solidFill>
                <a:latin typeface="Anton"/>
                <a:ea typeface="Anton"/>
                <a:cs typeface="Anton"/>
                <a:sym typeface="Anton"/>
              </a:rPr>
              <a:t>Project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86800" y="7320103"/>
            <a:ext cx="7992009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dirty="0"/>
              <a:t>Built a complete workflow from raw physical AI data to actionable insights</a:t>
            </a:r>
            <a:r>
              <a:rPr lang="en-US" sz="2400" dirty="0"/>
              <a:t>.</a:t>
            </a:r>
            <a:endParaRPr lang="en-US" sz="2399" spc="-167" dirty="0">
              <a:solidFill>
                <a:srgbClr val="3D46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846069" y="3258512"/>
            <a:ext cx="3911490" cy="922187"/>
            <a:chOff x="0" y="0"/>
            <a:chExt cx="1208736" cy="2849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08736" cy="284976"/>
            </a:xfrm>
            <a:custGeom>
              <a:avLst/>
              <a:gdLst/>
              <a:ahLst/>
              <a:cxnLst/>
              <a:rect l="l" t="t" r="r" b="b"/>
              <a:pathLst>
                <a:path w="1208736" h="284976">
                  <a:moveTo>
                    <a:pt x="0" y="0"/>
                  </a:moveTo>
                  <a:lnTo>
                    <a:pt x="1208736" y="0"/>
                  </a:lnTo>
                  <a:lnTo>
                    <a:pt x="1208736" y="284976"/>
                  </a:lnTo>
                  <a:lnTo>
                    <a:pt x="0" y="284976"/>
                  </a:lnTo>
                  <a:close/>
                </a:path>
              </a:pathLst>
            </a:custGeom>
            <a:solidFill>
              <a:srgbClr val="3D463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208736" cy="28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07908" y="3258511"/>
            <a:ext cx="3911490" cy="922187"/>
            <a:chOff x="0" y="0"/>
            <a:chExt cx="1208736" cy="284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8736" cy="284976"/>
            </a:xfrm>
            <a:custGeom>
              <a:avLst/>
              <a:gdLst/>
              <a:ahLst/>
              <a:cxnLst/>
              <a:rect l="l" t="t" r="r" b="b"/>
              <a:pathLst>
                <a:path w="1208736" h="284976">
                  <a:moveTo>
                    <a:pt x="0" y="0"/>
                  </a:moveTo>
                  <a:lnTo>
                    <a:pt x="1208736" y="0"/>
                  </a:lnTo>
                  <a:lnTo>
                    <a:pt x="1208736" y="284976"/>
                  </a:lnTo>
                  <a:lnTo>
                    <a:pt x="0" y="284976"/>
                  </a:lnTo>
                  <a:close/>
                </a:path>
              </a:pathLst>
            </a:custGeom>
            <a:solidFill>
              <a:srgbClr val="D1E1C0"/>
            </a:solidFill>
          </p:spPr>
          <p:txBody>
            <a:bodyPr/>
            <a:lstStyle/>
            <a:p>
              <a:endParaRPr lang="en-C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208736" cy="28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41416" y="3225835"/>
            <a:ext cx="6507649" cy="2809412"/>
            <a:chOff x="0" y="-583194"/>
            <a:chExt cx="2011006" cy="868170"/>
          </a:xfrm>
        </p:grpSpPr>
        <p:sp>
          <p:nvSpPr>
            <p:cNvPr id="10" name="Freeform 10"/>
            <p:cNvSpPr/>
            <p:nvPr/>
          </p:nvSpPr>
          <p:spPr>
            <a:xfrm>
              <a:off x="802270" y="-583194"/>
              <a:ext cx="1208736" cy="284976"/>
            </a:xfrm>
            <a:custGeom>
              <a:avLst/>
              <a:gdLst/>
              <a:ahLst/>
              <a:cxnLst/>
              <a:rect l="l" t="t" r="r" b="b"/>
              <a:pathLst>
                <a:path w="1208736" h="284976">
                  <a:moveTo>
                    <a:pt x="0" y="0"/>
                  </a:moveTo>
                  <a:lnTo>
                    <a:pt x="1208736" y="0"/>
                  </a:lnTo>
                  <a:lnTo>
                    <a:pt x="1208736" y="284976"/>
                  </a:lnTo>
                  <a:lnTo>
                    <a:pt x="0" y="284976"/>
                  </a:lnTo>
                  <a:close/>
                </a:path>
              </a:pathLst>
            </a:custGeom>
            <a:solidFill>
              <a:srgbClr val="3D4630"/>
            </a:solidFill>
          </p:spPr>
          <p:txBody>
            <a:bodyPr/>
            <a:lstStyle/>
            <a:p>
              <a:endParaRPr lang="en-C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208736" cy="28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46069" y="4675821"/>
            <a:ext cx="3911490" cy="922187"/>
            <a:chOff x="0" y="0"/>
            <a:chExt cx="1208736" cy="2849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08736" cy="284976"/>
            </a:xfrm>
            <a:custGeom>
              <a:avLst/>
              <a:gdLst/>
              <a:ahLst/>
              <a:cxnLst/>
              <a:rect l="l" t="t" r="r" b="b"/>
              <a:pathLst>
                <a:path w="1208736" h="284976">
                  <a:moveTo>
                    <a:pt x="0" y="0"/>
                  </a:moveTo>
                  <a:lnTo>
                    <a:pt x="1208736" y="0"/>
                  </a:lnTo>
                  <a:lnTo>
                    <a:pt x="1208736" y="284976"/>
                  </a:lnTo>
                  <a:lnTo>
                    <a:pt x="0" y="284976"/>
                  </a:lnTo>
                  <a:close/>
                </a:path>
              </a:pathLst>
            </a:custGeom>
            <a:solidFill>
              <a:srgbClr val="D1E1C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208736" cy="28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07908" y="6308149"/>
            <a:ext cx="3911490" cy="922187"/>
            <a:chOff x="0" y="0"/>
            <a:chExt cx="1208736" cy="28497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08736" cy="284976"/>
            </a:xfrm>
            <a:custGeom>
              <a:avLst/>
              <a:gdLst/>
              <a:ahLst/>
              <a:cxnLst/>
              <a:rect l="l" t="t" r="r" b="b"/>
              <a:pathLst>
                <a:path w="1208736" h="284976">
                  <a:moveTo>
                    <a:pt x="0" y="0"/>
                  </a:moveTo>
                  <a:lnTo>
                    <a:pt x="1208736" y="0"/>
                  </a:lnTo>
                  <a:lnTo>
                    <a:pt x="1208736" y="284976"/>
                  </a:lnTo>
                  <a:lnTo>
                    <a:pt x="0" y="284976"/>
                  </a:lnTo>
                  <a:close/>
                </a:path>
              </a:pathLst>
            </a:custGeom>
            <a:solidFill>
              <a:srgbClr val="D1E1C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208736" cy="28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007908" y="4678494"/>
            <a:ext cx="3911490" cy="922187"/>
            <a:chOff x="0" y="0"/>
            <a:chExt cx="1208736" cy="2849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08736" cy="284976"/>
            </a:xfrm>
            <a:custGeom>
              <a:avLst/>
              <a:gdLst/>
              <a:ahLst/>
              <a:cxnLst/>
              <a:rect l="l" t="t" r="r" b="b"/>
              <a:pathLst>
                <a:path w="1208736" h="284976">
                  <a:moveTo>
                    <a:pt x="0" y="0"/>
                  </a:moveTo>
                  <a:lnTo>
                    <a:pt x="1208736" y="0"/>
                  </a:lnTo>
                  <a:lnTo>
                    <a:pt x="1208736" y="284976"/>
                  </a:lnTo>
                  <a:lnTo>
                    <a:pt x="0" y="284976"/>
                  </a:lnTo>
                  <a:close/>
                </a:path>
              </a:pathLst>
            </a:custGeom>
            <a:solidFill>
              <a:srgbClr val="3D463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208736" cy="28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837575" y="4712113"/>
            <a:ext cx="3911490" cy="922187"/>
            <a:chOff x="0" y="0"/>
            <a:chExt cx="1208736" cy="2849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08736" cy="284976"/>
            </a:xfrm>
            <a:custGeom>
              <a:avLst/>
              <a:gdLst/>
              <a:ahLst/>
              <a:cxnLst/>
              <a:rect l="l" t="t" r="r" b="b"/>
              <a:pathLst>
                <a:path w="1208736" h="284976">
                  <a:moveTo>
                    <a:pt x="0" y="0"/>
                  </a:moveTo>
                  <a:lnTo>
                    <a:pt x="1208736" y="0"/>
                  </a:lnTo>
                  <a:lnTo>
                    <a:pt x="1208736" y="284976"/>
                  </a:lnTo>
                  <a:lnTo>
                    <a:pt x="0" y="284976"/>
                  </a:lnTo>
                  <a:close/>
                </a:path>
              </a:pathLst>
            </a:custGeom>
            <a:solidFill>
              <a:srgbClr val="D1E1C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1208736" cy="28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850727" y="6251628"/>
            <a:ext cx="3911490" cy="922187"/>
            <a:chOff x="0" y="0"/>
            <a:chExt cx="1208736" cy="2849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08736" cy="284976"/>
            </a:xfrm>
            <a:custGeom>
              <a:avLst/>
              <a:gdLst/>
              <a:ahLst/>
              <a:cxnLst/>
              <a:rect l="l" t="t" r="r" b="b"/>
              <a:pathLst>
                <a:path w="1208736" h="284976">
                  <a:moveTo>
                    <a:pt x="0" y="0"/>
                  </a:moveTo>
                  <a:lnTo>
                    <a:pt x="1208736" y="0"/>
                  </a:lnTo>
                  <a:lnTo>
                    <a:pt x="1208736" y="284976"/>
                  </a:lnTo>
                  <a:lnTo>
                    <a:pt x="0" y="284976"/>
                  </a:lnTo>
                  <a:close/>
                </a:path>
              </a:pathLst>
            </a:custGeom>
            <a:solidFill>
              <a:srgbClr val="3D463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208736" cy="28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82212" y="6336024"/>
            <a:ext cx="3911490" cy="922187"/>
            <a:chOff x="0" y="0"/>
            <a:chExt cx="1208736" cy="28497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08736" cy="284976"/>
            </a:xfrm>
            <a:custGeom>
              <a:avLst/>
              <a:gdLst/>
              <a:ahLst/>
              <a:cxnLst/>
              <a:rect l="l" t="t" r="r" b="b"/>
              <a:pathLst>
                <a:path w="1208736" h="284976">
                  <a:moveTo>
                    <a:pt x="0" y="0"/>
                  </a:moveTo>
                  <a:lnTo>
                    <a:pt x="1208736" y="0"/>
                  </a:lnTo>
                  <a:lnTo>
                    <a:pt x="1208736" y="284976"/>
                  </a:lnTo>
                  <a:lnTo>
                    <a:pt x="0" y="284976"/>
                  </a:lnTo>
                  <a:close/>
                </a:path>
              </a:pathLst>
            </a:custGeom>
            <a:solidFill>
              <a:srgbClr val="3D463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208736" cy="28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882212" y="7941907"/>
            <a:ext cx="3911490" cy="922187"/>
            <a:chOff x="0" y="0"/>
            <a:chExt cx="1208736" cy="28497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08736" cy="284976"/>
            </a:xfrm>
            <a:custGeom>
              <a:avLst/>
              <a:gdLst/>
              <a:ahLst/>
              <a:cxnLst/>
              <a:rect l="l" t="t" r="r" b="b"/>
              <a:pathLst>
                <a:path w="1208736" h="284976">
                  <a:moveTo>
                    <a:pt x="0" y="0"/>
                  </a:moveTo>
                  <a:lnTo>
                    <a:pt x="1208736" y="0"/>
                  </a:lnTo>
                  <a:lnTo>
                    <a:pt x="1208736" y="284976"/>
                  </a:lnTo>
                  <a:lnTo>
                    <a:pt x="0" y="284976"/>
                  </a:lnTo>
                  <a:close/>
                </a:path>
              </a:pathLst>
            </a:custGeom>
            <a:solidFill>
              <a:srgbClr val="D1E1C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208736" cy="28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073667" y="7714886"/>
            <a:ext cx="6079239" cy="1157882"/>
            <a:chOff x="-669882" y="0"/>
            <a:chExt cx="1878618" cy="357811"/>
          </a:xfrm>
        </p:grpSpPr>
        <p:sp>
          <p:nvSpPr>
            <p:cNvPr id="34" name="Freeform 34"/>
            <p:cNvSpPr/>
            <p:nvPr/>
          </p:nvSpPr>
          <p:spPr>
            <a:xfrm>
              <a:off x="-669882" y="72835"/>
              <a:ext cx="1208736" cy="284976"/>
            </a:xfrm>
            <a:custGeom>
              <a:avLst/>
              <a:gdLst/>
              <a:ahLst/>
              <a:cxnLst/>
              <a:rect l="l" t="t" r="r" b="b"/>
              <a:pathLst>
                <a:path w="1208736" h="284976">
                  <a:moveTo>
                    <a:pt x="0" y="0"/>
                  </a:moveTo>
                  <a:lnTo>
                    <a:pt x="1208736" y="0"/>
                  </a:lnTo>
                  <a:lnTo>
                    <a:pt x="1208736" y="284976"/>
                  </a:lnTo>
                  <a:lnTo>
                    <a:pt x="0" y="284976"/>
                  </a:lnTo>
                  <a:close/>
                </a:path>
              </a:pathLst>
            </a:custGeom>
            <a:solidFill>
              <a:srgbClr val="3D4630"/>
            </a:solidFill>
          </p:spPr>
          <p:txBody>
            <a:bodyPr/>
            <a:lstStyle/>
            <a:p>
              <a:endParaRPr lang="en-CN" dirty="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1208736" cy="28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850727" y="7978685"/>
            <a:ext cx="3911490" cy="922187"/>
            <a:chOff x="0" y="0"/>
            <a:chExt cx="1208736" cy="28497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08736" cy="284976"/>
            </a:xfrm>
            <a:custGeom>
              <a:avLst/>
              <a:gdLst/>
              <a:ahLst/>
              <a:cxnLst/>
              <a:rect l="l" t="t" r="r" b="b"/>
              <a:pathLst>
                <a:path w="1208736" h="284976">
                  <a:moveTo>
                    <a:pt x="0" y="0"/>
                  </a:moveTo>
                  <a:lnTo>
                    <a:pt x="1208736" y="0"/>
                  </a:lnTo>
                  <a:lnTo>
                    <a:pt x="1208736" y="284976"/>
                  </a:lnTo>
                  <a:lnTo>
                    <a:pt x="0" y="284976"/>
                  </a:lnTo>
                  <a:close/>
                </a:path>
              </a:pathLst>
            </a:custGeom>
            <a:solidFill>
              <a:srgbClr val="D1E1C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208736" cy="284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10063204"/>
            <a:ext cx="18288000" cy="223796"/>
            <a:chOff x="0" y="0"/>
            <a:chExt cx="5651391" cy="6915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651391" cy="69158"/>
            </a:xfrm>
            <a:custGeom>
              <a:avLst/>
              <a:gdLst/>
              <a:ahLst/>
              <a:cxnLst/>
              <a:rect l="l" t="t" r="r" b="b"/>
              <a:pathLst>
                <a:path w="5651391" h="69158">
                  <a:moveTo>
                    <a:pt x="0" y="0"/>
                  </a:moveTo>
                  <a:lnTo>
                    <a:pt x="5651391" y="0"/>
                  </a:lnTo>
                  <a:lnTo>
                    <a:pt x="5651391" y="69158"/>
                  </a:lnTo>
                  <a:lnTo>
                    <a:pt x="0" y="69158"/>
                  </a:lnTo>
                  <a:close/>
                </a:path>
              </a:pathLst>
            </a:custGeom>
            <a:solidFill>
              <a:srgbClr val="D1E1C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5651391" cy="69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 rot="-720757">
            <a:off x="16138592" y="2783660"/>
            <a:ext cx="757562" cy="630843"/>
          </a:xfrm>
          <a:custGeom>
            <a:avLst/>
            <a:gdLst/>
            <a:ahLst/>
            <a:cxnLst/>
            <a:rect l="l" t="t" r="r" b="b"/>
            <a:pathLst>
              <a:path w="757562" h="630843">
                <a:moveTo>
                  <a:pt x="0" y="0"/>
                </a:moveTo>
                <a:lnTo>
                  <a:pt x="757562" y="0"/>
                </a:lnTo>
                <a:lnTo>
                  <a:pt x="757562" y="630842"/>
                </a:lnTo>
                <a:lnTo>
                  <a:pt x="0" y="630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43" name="Freeform 43"/>
          <p:cNvSpPr/>
          <p:nvPr/>
        </p:nvSpPr>
        <p:spPr>
          <a:xfrm rot="-1041462">
            <a:off x="904142" y="579469"/>
            <a:ext cx="650021" cy="541290"/>
          </a:xfrm>
          <a:custGeom>
            <a:avLst/>
            <a:gdLst/>
            <a:ahLst/>
            <a:cxnLst/>
            <a:rect l="l" t="t" r="r" b="b"/>
            <a:pathLst>
              <a:path w="650021" h="541290">
                <a:moveTo>
                  <a:pt x="0" y="0"/>
                </a:moveTo>
                <a:lnTo>
                  <a:pt x="650021" y="0"/>
                </a:lnTo>
                <a:lnTo>
                  <a:pt x="650021" y="541291"/>
                </a:lnTo>
                <a:lnTo>
                  <a:pt x="0" y="541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46" name="TextBox 46"/>
          <p:cNvSpPr txBox="1"/>
          <p:nvPr/>
        </p:nvSpPr>
        <p:spPr>
          <a:xfrm>
            <a:off x="7749834" y="3532192"/>
            <a:ext cx="242763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800" b="1" dirty="0"/>
              <a:t>Data</a:t>
            </a:r>
            <a:endParaRPr lang="en-US" sz="2599" b="1" spc="-181" dirty="0">
              <a:solidFill>
                <a:srgbClr val="3D46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2323868" y="4865403"/>
            <a:ext cx="2938904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800" dirty="0"/>
              <a:t>Robot health monitoring</a:t>
            </a:r>
            <a:endParaRPr lang="en-US" sz="2599" spc="-181" dirty="0">
              <a:solidFill>
                <a:srgbClr val="3D46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2487065" y="4946565"/>
            <a:ext cx="242763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800" dirty="0" err="1"/>
              <a:t>Aido</a:t>
            </a:r>
            <a:r>
              <a:rPr lang="en-US" sz="2800" dirty="0"/>
              <a:t> Rover</a:t>
            </a:r>
            <a:endParaRPr lang="en-US" sz="2599" spc="-181" dirty="0">
              <a:solidFill>
                <a:srgbClr val="3D46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2519449" y="8252181"/>
            <a:ext cx="242763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800" dirty="0"/>
              <a:t>Risk monitoring</a:t>
            </a:r>
            <a:endParaRPr lang="en-US" sz="2599" spc="-181" dirty="0">
              <a:solidFill>
                <a:srgbClr val="3D46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2624138" y="8265176"/>
            <a:ext cx="242763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599" spc="-181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Sentinel Prime AI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749834" y="6515428"/>
            <a:ext cx="2427638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800" dirty="0"/>
              <a:t>Conversation data</a:t>
            </a:r>
            <a:endParaRPr lang="en-US" sz="2599" spc="-181" dirty="0">
              <a:solidFill>
                <a:srgbClr val="3D46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2487065" y="3521211"/>
            <a:ext cx="242763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800" b="1" dirty="0">
                <a:solidFill>
                  <a:schemeClr val="bg1"/>
                </a:solidFill>
              </a:rPr>
              <a:t>Platform</a:t>
            </a:r>
            <a:endParaRPr lang="en-US" sz="2599" b="1" spc="-181" dirty="0">
              <a:solidFill>
                <a:schemeClr val="bg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7345991" y="4958692"/>
            <a:ext cx="3235323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599" spc="-181" dirty="0">
                <a:solidFill>
                  <a:srgbClr val="FFFFF6"/>
                </a:solidFill>
                <a:latin typeface="Public Sans"/>
                <a:ea typeface="Public Sans"/>
                <a:cs typeface="Public Sans"/>
                <a:sym typeface="Public Sans"/>
              </a:rPr>
              <a:t>Battery, LiDAR, Torque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579501" y="3486431"/>
            <a:ext cx="242763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800" b="1" dirty="0">
                <a:solidFill>
                  <a:schemeClr val="bg1"/>
                </a:solidFill>
              </a:rPr>
              <a:t>Goal</a:t>
            </a:r>
            <a:endParaRPr lang="en-US" sz="2599" b="1" spc="-181" dirty="0">
              <a:solidFill>
                <a:schemeClr val="bg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2679870" y="6493901"/>
            <a:ext cx="242763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599" spc="-181" dirty="0">
                <a:solidFill>
                  <a:srgbClr val="FFFFF6"/>
                </a:solidFill>
                <a:latin typeface="Public Sans"/>
                <a:ea typeface="Public Sans"/>
                <a:cs typeface="Public Sans"/>
                <a:sym typeface="Public Sans"/>
              </a:rPr>
              <a:t>Interaction quality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45532" y="8169317"/>
            <a:ext cx="2796935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599" spc="-181" dirty="0">
                <a:solidFill>
                  <a:srgbClr val="FFFFF6"/>
                </a:solidFill>
                <a:latin typeface="Public Sans"/>
                <a:ea typeface="Public Sans"/>
                <a:cs typeface="Public Sans"/>
                <a:sym typeface="Public Sans"/>
              </a:rPr>
              <a:t>Security events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87995" y="6591103"/>
            <a:ext cx="242763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800" dirty="0" err="1">
                <a:solidFill>
                  <a:schemeClr val="bg1"/>
                </a:solidFill>
              </a:rPr>
              <a:t>Fari</a:t>
            </a:r>
            <a:endParaRPr lang="en-US" sz="2599" spc="-181" dirty="0">
              <a:solidFill>
                <a:schemeClr val="bg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2344101" y="594452"/>
            <a:ext cx="13404965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spc="-434" dirty="0">
                <a:solidFill>
                  <a:srgbClr val="3D4630"/>
                </a:solidFill>
                <a:latin typeface="Aharoni" panose="02010803020104030203" pitchFamily="2" charset="-79"/>
                <a:ea typeface="Anton"/>
                <a:cs typeface="Aharoni" panose="02010803020104030203" pitchFamily="2" charset="-79"/>
                <a:sym typeface="Anton"/>
              </a:rPr>
              <a:t>Different AI Platforms Require Different Data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562551">
            <a:off x="421685" y="4891424"/>
            <a:ext cx="730937" cy="608671"/>
          </a:xfrm>
          <a:custGeom>
            <a:avLst/>
            <a:gdLst/>
            <a:ahLst/>
            <a:cxnLst/>
            <a:rect l="l" t="t" r="r" b="b"/>
            <a:pathLst>
              <a:path w="730937" h="608671">
                <a:moveTo>
                  <a:pt x="0" y="0"/>
                </a:moveTo>
                <a:lnTo>
                  <a:pt x="730937" y="0"/>
                </a:lnTo>
                <a:lnTo>
                  <a:pt x="730937" y="608672"/>
                </a:lnTo>
                <a:lnTo>
                  <a:pt x="0" y="608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 dirty="0"/>
          </a:p>
        </p:txBody>
      </p:sp>
      <p:sp>
        <p:nvSpPr>
          <p:cNvPr id="8" name="TextBox 8"/>
          <p:cNvSpPr txBox="1"/>
          <p:nvPr/>
        </p:nvSpPr>
        <p:spPr>
          <a:xfrm>
            <a:off x="1600200" y="4866030"/>
            <a:ext cx="5410200" cy="2670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Missing value chart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Correlation heatmap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Distribution chart</a:t>
            </a:r>
            <a:endParaRPr lang="en-US" sz="4000" spc="-112" dirty="0">
              <a:solidFill>
                <a:srgbClr val="3D46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852612" y="574557"/>
            <a:ext cx="10058400" cy="9137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Key Findings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GPS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Missing location records required validation 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LiDAR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Saturation values affected distance analysis 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Wheel Torque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Noise spikes required smoothing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4000" dirty="0"/>
          </a:p>
          <a:p>
            <a:pPr>
              <a:lnSpc>
                <a:spcPct val="150000"/>
              </a:lnSpc>
            </a:pPr>
            <a:r>
              <a:rPr lang="en-US" sz="4000" dirty="0"/>
              <a:t>Data validation was necessary before statistical and machine learning analysis.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9600" y="1409700"/>
            <a:ext cx="5863355" cy="2718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07"/>
              </a:lnSpc>
            </a:pPr>
            <a:r>
              <a:rPr lang="en-US" sz="10399" spc="-322" dirty="0">
                <a:solidFill>
                  <a:srgbClr val="3D4630"/>
                </a:solidFill>
                <a:latin typeface="Anton"/>
                <a:ea typeface="Anton"/>
                <a:cs typeface="Anton"/>
                <a:sym typeface="Anton"/>
              </a:rPr>
              <a:t>Data Quality &amp; EDA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259300" y="0"/>
            <a:ext cx="1028700" cy="10287000"/>
            <a:chOff x="0" y="0"/>
            <a:chExt cx="27093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1E1C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70933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0"/>
            <a:ext cx="8115300" cy="10287000"/>
            <a:chOff x="0" y="0"/>
            <a:chExt cx="2507805" cy="31789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07805" cy="3178907"/>
            </a:xfrm>
            <a:custGeom>
              <a:avLst/>
              <a:gdLst/>
              <a:ahLst/>
              <a:cxnLst/>
              <a:rect l="l" t="t" r="r" b="b"/>
              <a:pathLst>
                <a:path w="2507805" h="3178907">
                  <a:moveTo>
                    <a:pt x="0" y="0"/>
                  </a:moveTo>
                  <a:lnTo>
                    <a:pt x="2507805" y="0"/>
                  </a:lnTo>
                  <a:lnTo>
                    <a:pt x="2507805" y="3178907"/>
                  </a:lnTo>
                  <a:lnTo>
                    <a:pt x="0" y="3178907"/>
                  </a:lnTo>
                  <a:close/>
                </a:path>
              </a:pathLst>
            </a:custGeom>
            <a:solidFill>
              <a:srgbClr val="3D463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507805" cy="3178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1198985">
            <a:off x="7963577" y="1754661"/>
            <a:ext cx="619639" cy="515991"/>
          </a:xfrm>
          <a:custGeom>
            <a:avLst/>
            <a:gdLst/>
            <a:ahLst/>
            <a:cxnLst/>
            <a:rect l="l" t="t" r="r" b="b"/>
            <a:pathLst>
              <a:path w="619639" h="515991">
                <a:moveTo>
                  <a:pt x="0" y="0"/>
                </a:moveTo>
                <a:lnTo>
                  <a:pt x="619639" y="0"/>
                </a:lnTo>
                <a:lnTo>
                  <a:pt x="619639" y="515991"/>
                </a:lnTo>
                <a:lnTo>
                  <a:pt x="0" y="515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14" name="TextBox 14"/>
          <p:cNvSpPr txBox="1"/>
          <p:nvPr/>
        </p:nvSpPr>
        <p:spPr>
          <a:xfrm>
            <a:off x="9648932" y="2391580"/>
            <a:ext cx="7142933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spc="-101" dirty="0">
                <a:solidFill>
                  <a:srgbClr val="FFFFF6"/>
                </a:solidFill>
                <a:latin typeface="Public Sans"/>
                <a:ea typeface="Public Sans"/>
                <a:cs typeface="Public Sans"/>
                <a:sym typeface="Public Sans"/>
              </a:rPr>
              <a:t>Purpose: Compare sensor behavior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30183" y="1038225"/>
            <a:ext cx="3280245" cy="41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63"/>
              </a:lnSpc>
            </a:pPr>
            <a:r>
              <a:rPr lang="en-US" sz="2799" b="1" spc="-14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Mann-Whitney- 1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30183" y="7177240"/>
            <a:ext cx="328024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63"/>
              </a:lnSpc>
            </a:pPr>
            <a:r>
              <a:rPr lang="en-US" sz="2799" b="1" spc="-14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Regression- 3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30183" y="4107733"/>
            <a:ext cx="3280245" cy="41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63"/>
              </a:lnSpc>
            </a:pPr>
            <a:r>
              <a:rPr lang="en-US" sz="2799" b="1" spc="-14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Chi-square- 2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3690" y="746051"/>
            <a:ext cx="7762875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9999" spc="-309" dirty="0">
                <a:solidFill>
                  <a:srgbClr val="3D4630"/>
                </a:solidFill>
                <a:latin typeface="Anton"/>
                <a:ea typeface="Anton"/>
                <a:cs typeface="Anton"/>
                <a:sym typeface="Anton"/>
              </a:rPr>
              <a:t>Statistical 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9856" y="3848100"/>
            <a:ext cx="7762875" cy="4503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spc="-101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Mann-Whitney U Test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spc="-101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Chi-Square Test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spc="-101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One Sample t-Test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spc="-101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Kruskal-Wallis Test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spc="-101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Regression Analysis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6EB4E8D-E0BE-0C58-6759-D6E29D459193}"/>
              </a:ext>
            </a:extLst>
          </p:cNvPr>
          <p:cNvSpPr txBox="1"/>
          <p:nvPr/>
        </p:nvSpPr>
        <p:spPr>
          <a:xfrm>
            <a:off x="9648932" y="5419307"/>
            <a:ext cx="7142933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spc="-101" dirty="0">
                <a:solidFill>
                  <a:srgbClr val="FFFFF6"/>
                </a:solidFill>
                <a:latin typeface="Public Sans"/>
                <a:ea typeface="Public Sans"/>
                <a:cs typeface="Public Sans"/>
                <a:sym typeface="Public Sans"/>
              </a:rPr>
              <a:t>Purpose: Check status relationship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E18778B2-37DC-09B4-C30C-001078013E42}"/>
              </a:ext>
            </a:extLst>
          </p:cNvPr>
          <p:cNvSpPr txBox="1"/>
          <p:nvPr/>
        </p:nvSpPr>
        <p:spPr>
          <a:xfrm>
            <a:off x="9685027" y="8817888"/>
            <a:ext cx="7142933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spc="-101" dirty="0">
                <a:solidFill>
                  <a:srgbClr val="FFFFF6"/>
                </a:solidFill>
                <a:latin typeface="Public Sans"/>
                <a:ea typeface="Public Sans"/>
                <a:cs typeface="Public Sans"/>
                <a:sym typeface="Public Sans"/>
              </a:rPr>
              <a:t>Purpose: Understand battery factors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28700" y="6429536"/>
            <a:ext cx="8009546" cy="3857464"/>
            <a:chOff x="0" y="0"/>
            <a:chExt cx="1922952" cy="7450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22952" cy="724605"/>
            </a:xfrm>
            <a:custGeom>
              <a:avLst/>
              <a:gdLst/>
              <a:ahLst/>
              <a:cxnLst/>
              <a:rect l="l" t="t" r="r" b="b"/>
              <a:pathLst>
                <a:path w="1838576" h="745024">
                  <a:moveTo>
                    <a:pt x="0" y="0"/>
                  </a:moveTo>
                  <a:lnTo>
                    <a:pt x="1838576" y="0"/>
                  </a:lnTo>
                  <a:lnTo>
                    <a:pt x="1838576" y="745024"/>
                  </a:lnTo>
                  <a:lnTo>
                    <a:pt x="0" y="745024"/>
                  </a:lnTo>
                  <a:close/>
                </a:path>
              </a:pathLst>
            </a:custGeom>
            <a:solidFill>
              <a:srgbClr val="3D463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838576" cy="745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15128" y="6943886"/>
            <a:ext cx="6980845" cy="2828764"/>
            <a:chOff x="0" y="0"/>
            <a:chExt cx="1838576" cy="7450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38576" cy="745024"/>
            </a:xfrm>
            <a:custGeom>
              <a:avLst/>
              <a:gdLst/>
              <a:ahLst/>
              <a:cxnLst/>
              <a:rect l="l" t="t" r="r" b="b"/>
              <a:pathLst>
                <a:path w="1838576" h="745024">
                  <a:moveTo>
                    <a:pt x="0" y="0"/>
                  </a:moveTo>
                  <a:lnTo>
                    <a:pt x="1838576" y="0"/>
                  </a:lnTo>
                  <a:lnTo>
                    <a:pt x="1838576" y="745024"/>
                  </a:lnTo>
                  <a:lnTo>
                    <a:pt x="0" y="745024"/>
                  </a:lnTo>
                  <a:close/>
                </a:path>
              </a:pathLst>
            </a:custGeom>
            <a:solidFill>
              <a:srgbClr val="3D463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838576" cy="745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975804">
            <a:off x="6463544" y="713151"/>
            <a:ext cx="649541" cy="540891"/>
          </a:xfrm>
          <a:custGeom>
            <a:avLst/>
            <a:gdLst/>
            <a:ahLst/>
            <a:cxnLst/>
            <a:rect l="l" t="t" r="r" b="b"/>
            <a:pathLst>
              <a:path w="649541" h="540891">
                <a:moveTo>
                  <a:pt x="0" y="0"/>
                </a:moveTo>
                <a:lnTo>
                  <a:pt x="649541" y="0"/>
                </a:lnTo>
                <a:lnTo>
                  <a:pt x="649541" y="540891"/>
                </a:lnTo>
                <a:lnTo>
                  <a:pt x="0" y="540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17" name="TextBox 17"/>
          <p:cNvSpPr txBox="1"/>
          <p:nvPr/>
        </p:nvSpPr>
        <p:spPr>
          <a:xfrm>
            <a:off x="2098080" y="6880939"/>
            <a:ext cx="6764443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 spc="-14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Optimal k = 4</a:t>
            </a:r>
          </a:p>
          <a:p>
            <a:pPr algn="l"/>
            <a:r>
              <a:rPr lang="en-US" sz="3200" spc="-14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Clusters represented different combinations of:</a:t>
            </a:r>
          </a:p>
          <a:p>
            <a:pPr algn="l"/>
            <a:r>
              <a:rPr lang="en-US" sz="3200" spc="-14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• Battery condition</a:t>
            </a:r>
          </a:p>
          <a:p>
            <a:pPr algn="l"/>
            <a:r>
              <a:rPr lang="en-US" sz="3200" spc="-14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• Sensor stability</a:t>
            </a:r>
          </a:p>
          <a:p>
            <a:pPr algn="l"/>
            <a:r>
              <a:rPr lang="en-US" sz="3200" spc="-14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• Torque behavior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00741" y="7865825"/>
            <a:ext cx="5409617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 spc="-14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Segmentation helps identify different operational states.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1501" y="542156"/>
            <a:ext cx="6285291" cy="2728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607"/>
              </a:lnSpc>
            </a:pPr>
            <a:r>
              <a:rPr lang="en-US" sz="10399" spc="-322" dirty="0">
                <a:solidFill>
                  <a:srgbClr val="3D4630"/>
                </a:solidFill>
                <a:latin typeface="Anton"/>
                <a:ea typeface="Anton"/>
                <a:cs typeface="Anton"/>
                <a:sym typeface="Anton"/>
              </a:rPr>
              <a:t>Clustering</a:t>
            </a:r>
          </a:p>
          <a:p>
            <a:pPr>
              <a:lnSpc>
                <a:spcPts val="10607"/>
              </a:lnSpc>
            </a:pPr>
            <a:endParaRPr lang="en-US" sz="10399" spc="-322" dirty="0">
              <a:solidFill>
                <a:srgbClr val="3D463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B844872-115E-1480-3717-EAD5AFF13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944" y="1982754"/>
            <a:ext cx="6652355" cy="43603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46CAAA4-1C25-FA34-C0CB-F100904A4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755" y="633019"/>
            <a:ext cx="7212836" cy="58604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59923" y="9590532"/>
            <a:ext cx="3892656" cy="36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399" spc="-167">
                <a:solidFill>
                  <a:srgbClr val="FFFFF6"/>
                </a:solidFill>
                <a:latin typeface="Public Sans"/>
                <a:ea typeface="Public Sans"/>
                <a:cs typeface="Public Sans"/>
                <a:sym typeface="Public Sans"/>
              </a:rPr>
              <a:t>www.reallygreatsite.com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560313" y="2378290"/>
            <a:ext cx="10515600" cy="5178167"/>
            <a:chOff x="0" y="0"/>
            <a:chExt cx="1835332" cy="12464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35332" cy="1246423"/>
            </a:xfrm>
            <a:custGeom>
              <a:avLst/>
              <a:gdLst/>
              <a:ahLst/>
              <a:cxnLst/>
              <a:rect l="l" t="t" r="r" b="b"/>
              <a:pathLst>
                <a:path w="1835332" h="1246423">
                  <a:moveTo>
                    <a:pt x="0" y="0"/>
                  </a:moveTo>
                  <a:lnTo>
                    <a:pt x="1835332" y="0"/>
                  </a:lnTo>
                  <a:lnTo>
                    <a:pt x="1835332" y="1246423"/>
                  </a:lnTo>
                  <a:lnTo>
                    <a:pt x="0" y="1246423"/>
                  </a:lnTo>
                  <a:close/>
                </a:path>
              </a:pathLst>
            </a:custGeom>
            <a:solidFill>
              <a:srgbClr val="3D4630"/>
            </a:solidFill>
          </p:spPr>
          <p:txBody>
            <a:bodyPr/>
            <a:lstStyle/>
            <a:p>
              <a:endParaRPr lang="en-C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835332" cy="1246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48600" y="7810500"/>
            <a:ext cx="9939027" cy="2316856"/>
            <a:chOff x="0" y="0"/>
            <a:chExt cx="1835332" cy="12464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35332" cy="1246423"/>
            </a:xfrm>
            <a:custGeom>
              <a:avLst/>
              <a:gdLst/>
              <a:ahLst/>
              <a:cxnLst/>
              <a:rect l="l" t="t" r="r" b="b"/>
              <a:pathLst>
                <a:path w="1835332" h="1246423">
                  <a:moveTo>
                    <a:pt x="0" y="0"/>
                  </a:moveTo>
                  <a:lnTo>
                    <a:pt x="1835332" y="0"/>
                  </a:lnTo>
                  <a:lnTo>
                    <a:pt x="1835332" y="1246423"/>
                  </a:lnTo>
                  <a:lnTo>
                    <a:pt x="0" y="1246423"/>
                  </a:lnTo>
                  <a:close/>
                </a:path>
              </a:pathLst>
            </a:custGeom>
            <a:solidFill>
              <a:srgbClr val="B08443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835332" cy="1246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502731" y="8642289"/>
            <a:ext cx="917703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999" spc="-15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No single feature dominated Rover health prediction. Multiple sensor patterns contributed together.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0" y="9258300"/>
            <a:ext cx="6968527" cy="1028700"/>
            <a:chOff x="0" y="0"/>
            <a:chExt cx="2153427" cy="3178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53427" cy="317891"/>
            </a:xfrm>
            <a:custGeom>
              <a:avLst/>
              <a:gdLst/>
              <a:ahLst/>
              <a:cxnLst/>
              <a:rect l="l" t="t" r="r" b="b"/>
              <a:pathLst>
                <a:path w="2153427" h="317891">
                  <a:moveTo>
                    <a:pt x="0" y="0"/>
                  </a:moveTo>
                  <a:lnTo>
                    <a:pt x="2153427" y="0"/>
                  </a:lnTo>
                  <a:lnTo>
                    <a:pt x="2153427" y="317891"/>
                  </a:lnTo>
                  <a:lnTo>
                    <a:pt x="0" y="317891"/>
                  </a:lnTo>
                  <a:close/>
                </a:path>
              </a:pathLst>
            </a:custGeom>
            <a:solidFill>
              <a:srgbClr val="F0F0D7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2153427" cy="317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89176" y="601220"/>
            <a:ext cx="7622893" cy="3534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83"/>
              </a:lnSpc>
            </a:pPr>
            <a:r>
              <a:rPr lang="en-US" sz="11000" spc="-428" dirty="0">
                <a:solidFill>
                  <a:srgbClr val="3D4630"/>
                </a:solidFill>
                <a:latin typeface="Anton"/>
                <a:ea typeface="Anton"/>
                <a:cs typeface="Anton"/>
                <a:sym typeface="Anton"/>
              </a:rPr>
              <a:t>Rover Feature Analysis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6B31038-3393-5DFE-68A9-977AD7294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" y="4467817"/>
            <a:ext cx="7342710" cy="4384817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FD57267-5659-2ACC-A6CD-21026DF1F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614995"/>
              </p:ext>
            </p:extLst>
          </p:nvPr>
        </p:nvGraphicFramePr>
        <p:xfrm>
          <a:off x="7848600" y="3214773"/>
          <a:ext cx="9973274" cy="3505200"/>
        </p:xfrm>
        <a:graphic>
          <a:graphicData uri="http://schemas.openxmlformats.org/drawingml/2006/table">
            <a:tbl>
              <a:tblPr/>
              <a:tblGrid>
                <a:gridCol w="4986637">
                  <a:extLst>
                    <a:ext uri="{9D8B030D-6E8A-4147-A177-3AD203B41FA5}">
                      <a16:colId xmlns:a16="http://schemas.microsoft.com/office/drawing/2014/main" val="2113569980"/>
                    </a:ext>
                  </a:extLst>
                </a:gridCol>
                <a:gridCol w="4986637">
                  <a:extLst>
                    <a:ext uri="{9D8B030D-6E8A-4147-A177-3AD203B41FA5}">
                      <a16:colId xmlns:a16="http://schemas.microsoft.com/office/drawing/2014/main" val="7612159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4000" dirty="0">
                          <a:solidFill>
                            <a:schemeClr val="bg1"/>
                          </a:solidFill>
                        </a:rPr>
                        <a:t>Importance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824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4000" dirty="0" err="1">
                          <a:solidFill>
                            <a:schemeClr val="bg1"/>
                          </a:solidFill>
                        </a:rPr>
                        <a:t>battery_rolling_mean</a:t>
                      </a:r>
                      <a:endParaRPr lang="en-US" sz="4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N" sz="4000" dirty="0">
                          <a:solidFill>
                            <a:schemeClr val="bg1"/>
                          </a:solidFill>
                        </a:rPr>
                        <a:t>0.0706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623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4000" dirty="0" err="1">
                          <a:solidFill>
                            <a:schemeClr val="bg1"/>
                          </a:solidFill>
                        </a:rPr>
                        <a:t>battery_rolling_std</a:t>
                      </a:r>
                      <a:endParaRPr lang="en-US" sz="4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N" sz="4000" dirty="0">
                          <a:solidFill>
                            <a:schemeClr val="bg1"/>
                          </a:solidFill>
                        </a:rPr>
                        <a:t>0.0703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231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4000">
                          <a:solidFill>
                            <a:schemeClr val="bg1"/>
                          </a:solidFill>
                        </a:rPr>
                        <a:t>lidar_rolling_mean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N" sz="4000" dirty="0">
                          <a:solidFill>
                            <a:schemeClr val="bg1"/>
                          </a:solidFill>
                        </a:rPr>
                        <a:t>0.0676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241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4000" dirty="0" err="1">
                          <a:solidFill>
                            <a:schemeClr val="bg1"/>
                          </a:solidFill>
                        </a:rPr>
                        <a:t>lidar_abs_rate_change</a:t>
                      </a:r>
                      <a:endParaRPr lang="en-US" sz="4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N" sz="4000" dirty="0">
                          <a:solidFill>
                            <a:schemeClr val="bg1"/>
                          </a:solidFill>
                        </a:rPr>
                        <a:t>0.0674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900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528044" y="7329897"/>
            <a:ext cx="8021155" cy="2286000"/>
            <a:chOff x="0" y="0"/>
            <a:chExt cx="2112568" cy="13026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12568" cy="1302670"/>
            </a:xfrm>
            <a:custGeom>
              <a:avLst/>
              <a:gdLst/>
              <a:ahLst/>
              <a:cxnLst/>
              <a:rect l="l" t="t" r="r" b="b"/>
              <a:pathLst>
                <a:path w="2112568" h="1302670">
                  <a:moveTo>
                    <a:pt x="0" y="0"/>
                  </a:moveTo>
                  <a:lnTo>
                    <a:pt x="2112568" y="0"/>
                  </a:lnTo>
                  <a:lnTo>
                    <a:pt x="2112568" y="1302670"/>
                  </a:lnTo>
                  <a:lnTo>
                    <a:pt x="0" y="1302670"/>
                  </a:lnTo>
                  <a:close/>
                </a:path>
              </a:pathLst>
            </a:custGeom>
            <a:solidFill>
              <a:srgbClr val="D1E1C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112568" cy="1302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28044" y="2737218"/>
            <a:ext cx="8021155" cy="4596341"/>
            <a:chOff x="0" y="0"/>
            <a:chExt cx="2112568" cy="13026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12568" cy="1302670"/>
            </a:xfrm>
            <a:custGeom>
              <a:avLst/>
              <a:gdLst/>
              <a:ahLst/>
              <a:cxnLst/>
              <a:rect l="l" t="t" r="r" b="b"/>
              <a:pathLst>
                <a:path w="2112568" h="1302670">
                  <a:moveTo>
                    <a:pt x="0" y="0"/>
                  </a:moveTo>
                  <a:lnTo>
                    <a:pt x="2112568" y="0"/>
                  </a:lnTo>
                  <a:lnTo>
                    <a:pt x="2112568" y="1302670"/>
                  </a:lnTo>
                  <a:lnTo>
                    <a:pt x="0" y="1302670"/>
                  </a:lnTo>
                  <a:close/>
                </a:path>
              </a:pathLst>
            </a:custGeom>
            <a:solidFill>
              <a:srgbClr val="3D463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12568" cy="1302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-685800" y="795386"/>
            <a:ext cx="14411790" cy="1817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687"/>
              </a:lnSpc>
            </a:pPr>
            <a:r>
              <a:rPr lang="en-US" sz="12000" spc="-446" dirty="0" err="1">
                <a:solidFill>
                  <a:srgbClr val="3D4630"/>
                </a:solidFill>
                <a:latin typeface="Anton"/>
                <a:ea typeface="Anton"/>
                <a:cs typeface="Anton"/>
                <a:sym typeface="Anton"/>
              </a:rPr>
              <a:t>Fari</a:t>
            </a:r>
            <a:r>
              <a:rPr lang="en-US" sz="12000" spc="-446" dirty="0">
                <a:solidFill>
                  <a:srgbClr val="3D4630"/>
                </a:solidFill>
                <a:latin typeface="Anton"/>
                <a:ea typeface="Anton"/>
                <a:cs typeface="Anton"/>
                <a:sym typeface="Anton"/>
              </a:rPr>
              <a:t> Feature Analysis</a:t>
            </a:r>
          </a:p>
        </p:txBody>
      </p:sp>
      <p:sp>
        <p:nvSpPr>
          <p:cNvPr id="10" name="Freeform 10"/>
          <p:cNvSpPr/>
          <p:nvPr/>
        </p:nvSpPr>
        <p:spPr>
          <a:xfrm rot="1151112">
            <a:off x="779221" y="2739761"/>
            <a:ext cx="498960" cy="415498"/>
          </a:xfrm>
          <a:custGeom>
            <a:avLst/>
            <a:gdLst/>
            <a:ahLst/>
            <a:cxnLst/>
            <a:rect l="l" t="t" r="r" b="b"/>
            <a:pathLst>
              <a:path w="498960" h="415498">
                <a:moveTo>
                  <a:pt x="0" y="0"/>
                </a:moveTo>
                <a:lnTo>
                  <a:pt x="498960" y="0"/>
                </a:lnTo>
                <a:lnTo>
                  <a:pt x="498960" y="415498"/>
                </a:lnTo>
                <a:lnTo>
                  <a:pt x="0" y="4154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11" name="Freeform 11"/>
          <p:cNvSpPr/>
          <p:nvPr/>
        </p:nvSpPr>
        <p:spPr>
          <a:xfrm rot="1362438">
            <a:off x="12938902" y="770704"/>
            <a:ext cx="619639" cy="515991"/>
          </a:xfrm>
          <a:custGeom>
            <a:avLst/>
            <a:gdLst/>
            <a:ahLst/>
            <a:cxnLst/>
            <a:rect l="l" t="t" r="r" b="b"/>
            <a:pathLst>
              <a:path w="619639" h="515991">
                <a:moveTo>
                  <a:pt x="0" y="0"/>
                </a:moveTo>
                <a:lnTo>
                  <a:pt x="619639" y="0"/>
                </a:lnTo>
                <a:lnTo>
                  <a:pt x="619639" y="515991"/>
                </a:lnTo>
                <a:lnTo>
                  <a:pt x="0" y="515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16" name="TextBox 16"/>
          <p:cNvSpPr txBox="1"/>
          <p:nvPr/>
        </p:nvSpPr>
        <p:spPr>
          <a:xfrm>
            <a:off x="11763690" y="3422025"/>
            <a:ext cx="3549862" cy="34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999" b="1" spc="-15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Response Length</a:t>
            </a:r>
          </a:p>
          <a:p>
            <a:pPr algn="l">
              <a:lnSpc>
                <a:spcPts val="3389"/>
              </a:lnSpc>
            </a:pPr>
            <a:r>
              <a:rPr lang="en-US" sz="2999" b="1" spc="-15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38.5%</a:t>
            </a:r>
          </a:p>
          <a:p>
            <a:pPr algn="l">
              <a:lnSpc>
                <a:spcPts val="3389"/>
              </a:lnSpc>
            </a:pPr>
            <a:endParaRPr lang="en-US" sz="2999" b="1" spc="-152" dirty="0">
              <a:solidFill>
                <a:srgbClr val="FFFFF6"/>
              </a:solidFill>
              <a:latin typeface="Public Sans Heavy"/>
              <a:ea typeface="Public Sans Heavy"/>
              <a:cs typeface="Public Sans Heavy"/>
              <a:sym typeface="Public Sans Heavy"/>
            </a:endParaRPr>
          </a:p>
          <a:p>
            <a:pPr algn="l">
              <a:lnSpc>
                <a:spcPts val="3389"/>
              </a:lnSpc>
            </a:pPr>
            <a:r>
              <a:rPr lang="en-US" sz="2999" b="1" spc="-15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Sentiment Score</a:t>
            </a:r>
          </a:p>
          <a:p>
            <a:pPr algn="l">
              <a:lnSpc>
                <a:spcPts val="3389"/>
              </a:lnSpc>
            </a:pPr>
            <a:r>
              <a:rPr lang="en-US" sz="2999" b="1" spc="-15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29.5%</a:t>
            </a:r>
          </a:p>
          <a:p>
            <a:pPr algn="l">
              <a:lnSpc>
                <a:spcPts val="3389"/>
              </a:lnSpc>
            </a:pPr>
            <a:endParaRPr lang="en-US" sz="2999" b="1" spc="-152" dirty="0">
              <a:solidFill>
                <a:srgbClr val="FFFFF6"/>
              </a:solidFill>
              <a:latin typeface="Public Sans Heavy"/>
              <a:ea typeface="Public Sans Heavy"/>
              <a:cs typeface="Public Sans Heavy"/>
              <a:sym typeface="Public Sans Heavy"/>
            </a:endParaRPr>
          </a:p>
          <a:p>
            <a:pPr algn="l">
              <a:lnSpc>
                <a:spcPts val="3389"/>
              </a:lnSpc>
            </a:pPr>
            <a:r>
              <a:rPr lang="en-US" sz="2999" b="1" spc="-15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Combined:</a:t>
            </a:r>
          </a:p>
          <a:p>
            <a:pPr algn="l">
              <a:lnSpc>
                <a:spcPts val="3389"/>
              </a:lnSpc>
            </a:pPr>
            <a:r>
              <a:rPr lang="en-US" sz="2999" b="1" spc="-152" dirty="0">
                <a:solidFill>
                  <a:srgbClr val="FFFFF6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≈68%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63690" y="7690666"/>
            <a:ext cx="6096000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999" b="1" spc="-152" dirty="0">
                <a:solidFill>
                  <a:srgbClr val="3D4630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Random Forest</a:t>
            </a:r>
          </a:p>
          <a:p>
            <a:pPr algn="l">
              <a:lnSpc>
                <a:spcPts val="3389"/>
              </a:lnSpc>
            </a:pPr>
            <a:endParaRPr lang="en-US" sz="2999" b="1" spc="-152" dirty="0">
              <a:solidFill>
                <a:srgbClr val="3D4630"/>
              </a:solidFill>
              <a:latin typeface="Public Sans Heavy"/>
              <a:ea typeface="Public Sans Heavy"/>
              <a:cs typeface="Public Sans Heavy"/>
              <a:sym typeface="Public Sans Heavy"/>
            </a:endParaRPr>
          </a:p>
          <a:p>
            <a:pPr algn="l">
              <a:lnSpc>
                <a:spcPts val="3389"/>
              </a:lnSpc>
            </a:pPr>
            <a:r>
              <a:rPr lang="en-US" sz="2999" b="1" spc="-152" dirty="0">
                <a:solidFill>
                  <a:srgbClr val="3D4630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Accuracy:</a:t>
            </a:r>
          </a:p>
          <a:p>
            <a:pPr algn="l">
              <a:lnSpc>
                <a:spcPts val="3389"/>
              </a:lnSpc>
            </a:pPr>
            <a:r>
              <a:rPr lang="en-US" sz="2999" b="1" spc="-152" dirty="0">
                <a:solidFill>
                  <a:srgbClr val="3D4630"/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≈88%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75F0DEF-9219-4B75-A0E9-C9A988D89A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919" y="3913058"/>
            <a:ext cx="8070597" cy="4453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1093868">
            <a:off x="6926597" y="2162441"/>
            <a:ext cx="652295" cy="543184"/>
          </a:xfrm>
          <a:custGeom>
            <a:avLst/>
            <a:gdLst/>
            <a:ahLst/>
            <a:cxnLst/>
            <a:rect l="l" t="t" r="r" b="b"/>
            <a:pathLst>
              <a:path w="652295" h="543184">
                <a:moveTo>
                  <a:pt x="0" y="0"/>
                </a:moveTo>
                <a:lnTo>
                  <a:pt x="652295" y="0"/>
                </a:lnTo>
                <a:lnTo>
                  <a:pt x="652295" y="543183"/>
                </a:lnTo>
                <a:lnTo>
                  <a:pt x="0" y="543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6" name="TextBox 6"/>
          <p:cNvSpPr txBox="1"/>
          <p:nvPr/>
        </p:nvSpPr>
        <p:spPr>
          <a:xfrm>
            <a:off x="3755266" y="4141068"/>
            <a:ext cx="7784443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Data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 ↓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Feature Generation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 ↓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KPI Calculation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 ↓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Anomaly Detection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 ↓</a:t>
            </a:r>
          </a:p>
          <a:p>
            <a:pPr algn="l"/>
            <a:r>
              <a:rPr lang="en-US" sz="32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Dashboard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68200" y="2779255"/>
            <a:ext cx="7784443" cy="609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6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Battery SOC</a:t>
            </a:r>
          </a:p>
          <a:p>
            <a:pPr algn="l"/>
            <a:r>
              <a:rPr lang="en-US" sz="36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59.99%</a:t>
            </a:r>
          </a:p>
          <a:p>
            <a:pPr algn="l"/>
            <a:endParaRPr lang="en-US" sz="3600" spc="-112" dirty="0">
              <a:solidFill>
                <a:srgbClr val="3D46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/>
            <a:r>
              <a:rPr lang="en-US" sz="36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Fault Rate</a:t>
            </a:r>
          </a:p>
          <a:p>
            <a:pPr algn="l"/>
            <a:r>
              <a:rPr lang="en-US" sz="36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0%</a:t>
            </a:r>
          </a:p>
          <a:p>
            <a:pPr algn="l"/>
            <a:endParaRPr lang="en-US" sz="3600" spc="-112" dirty="0">
              <a:solidFill>
                <a:srgbClr val="3D46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/>
            <a:r>
              <a:rPr lang="en-US" sz="36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High-risk Events</a:t>
            </a:r>
          </a:p>
          <a:p>
            <a:pPr algn="l"/>
            <a:r>
              <a:rPr lang="en-US" sz="36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600</a:t>
            </a:r>
          </a:p>
          <a:p>
            <a:pPr algn="l"/>
            <a:endParaRPr lang="en-US" sz="3600" spc="-112" dirty="0">
              <a:solidFill>
                <a:srgbClr val="3D46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/>
            <a:r>
              <a:rPr lang="en-US" sz="36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LiDAR Distance</a:t>
            </a:r>
          </a:p>
          <a:p>
            <a:pPr algn="l"/>
            <a:r>
              <a:rPr lang="en-US" sz="3600" spc="-112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8.45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9938" y="480353"/>
            <a:ext cx="14135100" cy="368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280"/>
              </a:lnSpc>
            </a:pPr>
            <a:r>
              <a:rPr lang="en-US" sz="11000" spc="-434" dirty="0">
                <a:solidFill>
                  <a:srgbClr val="3D4630"/>
                </a:solidFill>
                <a:latin typeface="Anton"/>
                <a:ea typeface="Anton"/>
                <a:cs typeface="Anton"/>
                <a:sym typeface="Anton"/>
              </a:rPr>
              <a:t>Automated Reporting &amp;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9029700"/>
            <a:ext cx="1110562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 spc="-167" dirty="0">
                <a:solidFill>
                  <a:srgbClr val="3D4630"/>
                </a:solidFill>
                <a:latin typeface="Public Sans"/>
                <a:ea typeface="Public Sans"/>
                <a:cs typeface="Public Sans"/>
                <a:sym typeface="Public Sans"/>
              </a:rPr>
              <a:t>Automated reporting reduced manual analysis effort and improved repeatability.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28700" y="3876422"/>
            <a:ext cx="8059467" cy="5381877"/>
            <a:chOff x="0" y="0"/>
            <a:chExt cx="3832029" cy="7482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32029" cy="748241"/>
            </a:xfrm>
            <a:custGeom>
              <a:avLst/>
              <a:gdLst/>
              <a:ahLst/>
              <a:cxnLst/>
              <a:rect l="l" t="t" r="r" b="b"/>
              <a:pathLst>
                <a:path w="3832029" h="748241">
                  <a:moveTo>
                    <a:pt x="0" y="0"/>
                  </a:moveTo>
                  <a:lnTo>
                    <a:pt x="3832029" y="0"/>
                  </a:lnTo>
                  <a:lnTo>
                    <a:pt x="3832029" y="748241"/>
                  </a:lnTo>
                  <a:lnTo>
                    <a:pt x="0" y="748241"/>
                  </a:lnTo>
                  <a:close/>
                </a:path>
              </a:pathLst>
            </a:custGeom>
            <a:solidFill>
              <a:srgbClr val="3D4630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3832029" cy="748241"/>
            </a:xfrm>
            <a:prstGeom prst="rect">
              <a:avLst/>
            </a:prstGeom>
          </p:spPr>
          <p:txBody>
            <a:bodyPr lIns="41024" tIns="41024" rIns="41024" bIns="41024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11568" y="3840457"/>
            <a:ext cx="8059467" cy="5381876"/>
            <a:chOff x="0" y="0"/>
            <a:chExt cx="3832029" cy="7482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32029" cy="748241"/>
            </a:xfrm>
            <a:custGeom>
              <a:avLst/>
              <a:gdLst/>
              <a:ahLst/>
              <a:cxnLst/>
              <a:rect l="l" t="t" r="r" b="b"/>
              <a:pathLst>
                <a:path w="3832029" h="748241">
                  <a:moveTo>
                    <a:pt x="0" y="0"/>
                  </a:moveTo>
                  <a:lnTo>
                    <a:pt x="3832029" y="0"/>
                  </a:lnTo>
                  <a:lnTo>
                    <a:pt x="3832029" y="748241"/>
                  </a:lnTo>
                  <a:lnTo>
                    <a:pt x="0" y="748241"/>
                  </a:lnTo>
                  <a:close/>
                </a:path>
              </a:pathLst>
            </a:custGeom>
            <a:solidFill>
              <a:srgbClr val="B08443"/>
            </a:solidFill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3832029" cy="748241"/>
            </a:xfrm>
            <a:prstGeom prst="rect">
              <a:avLst/>
            </a:prstGeom>
          </p:spPr>
          <p:txBody>
            <a:bodyPr lIns="41024" tIns="41024" rIns="41024" bIns="41024" rtlCol="0" anchor="ctr"/>
            <a:lstStyle/>
            <a:p>
              <a:pPr algn="ctr">
                <a:lnSpc>
                  <a:spcPts val="27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963385">
            <a:off x="7530701" y="1036902"/>
            <a:ext cx="659680" cy="549334"/>
          </a:xfrm>
          <a:custGeom>
            <a:avLst/>
            <a:gdLst/>
            <a:ahLst/>
            <a:cxnLst/>
            <a:rect l="l" t="t" r="r" b="b"/>
            <a:pathLst>
              <a:path w="659680" h="549334">
                <a:moveTo>
                  <a:pt x="0" y="0"/>
                </a:moveTo>
                <a:lnTo>
                  <a:pt x="659680" y="0"/>
                </a:lnTo>
                <a:lnTo>
                  <a:pt x="659680" y="549334"/>
                </a:lnTo>
                <a:lnTo>
                  <a:pt x="0" y="549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 dirty="0"/>
          </a:p>
        </p:txBody>
      </p:sp>
      <p:sp>
        <p:nvSpPr>
          <p:cNvPr id="12" name="TextBox 12"/>
          <p:cNvSpPr txBox="1"/>
          <p:nvPr/>
        </p:nvSpPr>
        <p:spPr>
          <a:xfrm>
            <a:off x="1112484" y="1028701"/>
            <a:ext cx="8115300" cy="257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802" spc="-303" dirty="0">
                <a:solidFill>
                  <a:srgbClr val="3D4630"/>
                </a:solidFill>
                <a:latin typeface="Anton"/>
                <a:ea typeface="Anton"/>
                <a:cs typeface="Anton"/>
                <a:sym typeface="Anton"/>
              </a:rPr>
              <a:t>Limitations &amp; Future Work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9420" y="4536034"/>
            <a:ext cx="7501428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400" b="1" spc="-86" dirty="0">
                <a:solidFill>
                  <a:srgbClr val="D1E1C0"/>
                </a:solidFill>
                <a:latin typeface="Abadi" panose="020B0604020104020204" pitchFamily="34" charset="77"/>
                <a:ea typeface="Anton"/>
                <a:cs typeface="Anton"/>
                <a:sym typeface="Anton"/>
              </a:rPr>
              <a:t>Current Limitations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spc="-86" dirty="0">
                <a:solidFill>
                  <a:srgbClr val="D1E1C0"/>
                </a:solidFill>
                <a:latin typeface="Abadi" panose="020B0604020104020204" pitchFamily="34" charset="77"/>
                <a:ea typeface="Anton"/>
                <a:cs typeface="Anton"/>
                <a:sym typeface="Anton"/>
              </a:rPr>
              <a:t>Synthetic datasets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spc="-86" dirty="0">
                <a:solidFill>
                  <a:srgbClr val="D1E1C0"/>
                </a:solidFill>
                <a:latin typeface="Abadi" panose="020B0604020104020204" pitchFamily="34" charset="77"/>
                <a:ea typeface="Anton"/>
                <a:cs typeface="Anton"/>
                <a:sym typeface="Anton"/>
              </a:rPr>
              <a:t>Limited labels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spc="-86" dirty="0">
                <a:solidFill>
                  <a:srgbClr val="D1E1C0"/>
                </a:solidFill>
                <a:latin typeface="Abadi" panose="020B0604020104020204" pitchFamily="34" charset="77"/>
                <a:ea typeface="Anton"/>
                <a:cs typeface="Anton"/>
                <a:sym typeface="Anton"/>
              </a:rPr>
              <a:t>Single rolling window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spc="-86" dirty="0">
                <a:solidFill>
                  <a:srgbClr val="D1E1C0"/>
                </a:solidFill>
                <a:latin typeface="Abadi" panose="020B0604020104020204" pitchFamily="34" charset="77"/>
                <a:ea typeface="Anton"/>
                <a:cs typeface="Anton"/>
                <a:sym typeface="Anton"/>
              </a:rPr>
              <a:t>No production deployment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spc="-86" dirty="0">
                <a:solidFill>
                  <a:srgbClr val="D1E1C0"/>
                </a:solidFill>
                <a:latin typeface="Abadi" panose="020B0604020104020204" pitchFamily="34" charset="77"/>
                <a:ea typeface="Anton"/>
                <a:cs typeface="Anton"/>
                <a:sym typeface="Anton"/>
              </a:rPr>
              <a:t>Dashboard dependency issue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99198" y="4536034"/>
            <a:ext cx="7560102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400" b="1" spc="-86" dirty="0">
                <a:solidFill>
                  <a:srgbClr val="FFFFF6"/>
                </a:solidFill>
                <a:latin typeface="Abadi" panose="020B0604020104020204" pitchFamily="34" charset="77"/>
                <a:ea typeface="Anton"/>
                <a:cs typeface="Anton"/>
                <a:sym typeface="Anton"/>
              </a:rPr>
              <a:t>Future Improvements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spc="-86" dirty="0">
                <a:solidFill>
                  <a:srgbClr val="FFFFF6"/>
                </a:solidFill>
                <a:latin typeface="Abadi" panose="020B0604020104020204" pitchFamily="34" charset="77"/>
                <a:ea typeface="Anton"/>
                <a:cs typeface="Anton"/>
                <a:sym typeface="Anton"/>
              </a:rPr>
              <a:t>Real-time telemetry streaming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spc="-86" dirty="0">
                <a:solidFill>
                  <a:srgbClr val="FFFFF6"/>
                </a:solidFill>
                <a:latin typeface="Abadi" panose="020B0604020104020204" pitchFamily="34" charset="77"/>
                <a:ea typeface="Anton"/>
                <a:cs typeface="Anton"/>
                <a:sym typeface="Anton"/>
              </a:rPr>
              <a:t>Cloud dashboard deployment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spc="-86" dirty="0">
                <a:solidFill>
                  <a:srgbClr val="FFFFF6"/>
                </a:solidFill>
                <a:latin typeface="Abadi" panose="020B0604020104020204" pitchFamily="34" charset="77"/>
                <a:ea typeface="Anton"/>
                <a:cs typeface="Anton"/>
                <a:sym typeface="Anton"/>
              </a:rPr>
              <a:t>SHAP explainability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spc="-86" dirty="0">
                <a:solidFill>
                  <a:srgbClr val="FFFFF6"/>
                </a:solidFill>
                <a:latin typeface="Abadi" panose="020B0604020104020204" pitchFamily="34" charset="77"/>
                <a:ea typeface="Anton"/>
                <a:cs typeface="Anton"/>
                <a:sym typeface="Anton"/>
              </a:rPr>
              <a:t>Automated alerts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spc="-86" dirty="0">
                <a:solidFill>
                  <a:srgbClr val="FFFFF6"/>
                </a:solidFill>
                <a:latin typeface="Abadi" panose="020B0604020104020204" pitchFamily="34" charset="77"/>
                <a:ea typeface="Anton"/>
                <a:cs typeface="Anton"/>
                <a:sym typeface="Anton"/>
              </a:rPr>
              <a:t>Database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354</Words>
  <Application>Microsoft Macintosh PowerPoint</Application>
  <PresentationFormat>Custom</PresentationFormat>
  <Paragraphs>129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Aharoni</vt:lpstr>
      <vt:lpstr>Calibri</vt:lpstr>
      <vt:lpstr>Abadi</vt:lpstr>
      <vt:lpstr>Anton</vt:lpstr>
      <vt:lpstr>Public Sans Heavy</vt:lpstr>
      <vt:lpstr>Public Sans</vt:lpstr>
      <vt:lpstr>Public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Light Green Modern Illustrative Minimalist Thesis Defense Presentation</dc:title>
  <cp:lastModifiedBy>Clover YANG</cp:lastModifiedBy>
  <cp:revision>13</cp:revision>
  <dcterms:created xsi:type="dcterms:W3CDTF">2006-08-16T00:00:00Z</dcterms:created>
  <dcterms:modified xsi:type="dcterms:W3CDTF">2026-08-06T15:59:08Z</dcterms:modified>
  <dc:identifier>DAGTj0gd9-c</dc:identifier>
</cp:coreProperties>
</file>